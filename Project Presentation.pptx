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More Sugar" charset="1" panose="00000000000000000000"/>
      <p:regular r:id="rId21"/>
    </p:embeddedFont>
    <p:embeddedFont>
      <p:font typeface="Garet Bold" charset="1" panose="00000000000000000000"/>
      <p:regular r:id="rId22"/>
    </p:embeddedFont>
    <p:embeddedFont>
      <p:font typeface="Garet" charset="1" panose="00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4.pn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12" Target="../media/image14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.png" Type="http://schemas.openxmlformats.org/officeDocument/2006/relationships/image"/><Relationship Id="rId8" Target="../media/image2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12" Target="https://resumeclassification-hwu8zkd9yn5cy5pmusqht3.streamlit.app" TargetMode="External" Type="http://schemas.openxmlformats.org/officeDocument/2006/relationships/hyperlink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11" Target="../media/image3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35713">
            <a:off x="12613017" y="415292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3" y="0"/>
                </a:lnTo>
                <a:lnTo>
                  <a:pt x="4544753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47098" y="-1059142"/>
            <a:ext cx="9325802" cy="6096743"/>
          </a:xfrm>
          <a:custGeom>
            <a:avLst/>
            <a:gdLst/>
            <a:ahLst/>
            <a:cxnLst/>
            <a:rect r="r" b="b" t="t" l="l"/>
            <a:pathLst>
              <a:path h="6096743" w="9325802">
                <a:moveTo>
                  <a:pt x="0" y="0"/>
                </a:moveTo>
                <a:lnTo>
                  <a:pt x="9325801" y="0"/>
                </a:lnTo>
                <a:lnTo>
                  <a:pt x="9325801" y="6096743"/>
                </a:lnTo>
                <a:lnTo>
                  <a:pt x="0" y="6096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54363">
            <a:off x="-966611" y="2621485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29302" y="5552713"/>
            <a:ext cx="6842807" cy="5525567"/>
          </a:xfrm>
          <a:custGeom>
            <a:avLst/>
            <a:gdLst/>
            <a:ahLst/>
            <a:cxnLst/>
            <a:rect r="r" b="b" t="t" l="l"/>
            <a:pathLst>
              <a:path h="5525567" w="6842807">
                <a:moveTo>
                  <a:pt x="0" y="0"/>
                </a:moveTo>
                <a:lnTo>
                  <a:pt x="6842807" y="0"/>
                </a:lnTo>
                <a:lnTo>
                  <a:pt x="6842807" y="5525567"/>
                </a:lnTo>
                <a:lnTo>
                  <a:pt x="0" y="5525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402607" y="3886475"/>
            <a:ext cx="11482787" cy="1666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4"/>
              </a:lnSpc>
            </a:pPr>
            <a:r>
              <a:rPr lang="en-US" sz="6499">
                <a:solidFill>
                  <a:srgbClr val="3D4043"/>
                </a:solidFill>
                <a:latin typeface="More Sugar"/>
                <a:ea typeface="More Sugar"/>
                <a:cs typeface="More Sugar"/>
                <a:sym typeface="More Sugar"/>
              </a:rPr>
              <a:t>Res</a:t>
            </a:r>
            <a:r>
              <a:rPr lang="en-US" sz="6499">
                <a:solidFill>
                  <a:srgbClr val="3D4043"/>
                </a:solidFill>
                <a:latin typeface="More Sugar"/>
                <a:ea typeface="More Sugar"/>
                <a:cs typeface="More Sugar"/>
                <a:sym typeface="More Sugar"/>
              </a:rPr>
              <a:t>ume Classification System using Machine Learning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085616" y="-1334870"/>
            <a:ext cx="6220350" cy="4908422"/>
          </a:xfrm>
          <a:custGeom>
            <a:avLst/>
            <a:gdLst/>
            <a:ahLst/>
            <a:cxnLst/>
            <a:rect r="r" b="b" t="t" l="l"/>
            <a:pathLst>
              <a:path h="4908422" w="6220350">
                <a:moveTo>
                  <a:pt x="0" y="0"/>
                </a:moveTo>
                <a:lnTo>
                  <a:pt x="6220350" y="0"/>
                </a:lnTo>
                <a:lnTo>
                  <a:pt x="6220350" y="4908421"/>
                </a:lnTo>
                <a:lnTo>
                  <a:pt x="0" y="4908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32073" y="3573551"/>
            <a:ext cx="2254453" cy="2525998"/>
          </a:xfrm>
          <a:custGeom>
            <a:avLst/>
            <a:gdLst/>
            <a:ahLst/>
            <a:cxnLst/>
            <a:rect r="r" b="b" t="t" l="l"/>
            <a:pathLst>
              <a:path h="2525998" w="2254453">
                <a:moveTo>
                  <a:pt x="0" y="0"/>
                </a:moveTo>
                <a:lnTo>
                  <a:pt x="2254454" y="0"/>
                </a:lnTo>
                <a:lnTo>
                  <a:pt x="2254454" y="2525998"/>
                </a:lnTo>
                <a:lnTo>
                  <a:pt x="0" y="2525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54363">
            <a:off x="13859697" y="6731805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3" y="0"/>
                </a:lnTo>
                <a:lnTo>
                  <a:pt x="4544753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660988">
            <a:off x="7100458" y="-778512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29301" y="6192748"/>
            <a:ext cx="8829398" cy="143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b="true" sz="2750" spc="3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Automated Resume Screening using NLP</a:t>
            </a:r>
          </a:p>
          <a:p>
            <a:pPr algn="ctr">
              <a:lnSpc>
                <a:spcPts val="3850"/>
              </a:lnSpc>
            </a:pPr>
            <a:r>
              <a:rPr lang="en-US" b="true" sz="2750" spc="3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Technology: Python, Machine Learning, NLP</a:t>
            </a:r>
          </a:p>
          <a:p>
            <a:pPr algn="ctr">
              <a:lnSpc>
                <a:spcPts val="3850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7092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00000"/>
                </a:solidFill>
                <a:latin typeface="More Sugar"/>
                <a:ea typeface="More Sugar"/>
                <a:cs typeface="More Sugar"/>
                <a:sym typeface="More Sugar"/>
              </a:rPr>
              <a:t>Our Team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3854322">
            <a:off x="11198458" y="-467515"/>
            <a:ext cx="9325802" cy="6096743"/>
          </a:xfrm>
          <a:custGeom>
            <a:avLst/>
            <a:gdLst/>
            <a:ahLst/>
            <a:cxnLst/>
            <a:rect r="r" b="b" t="t" l="l"/>
            <a:pathLst>
              <a:path h="6096743" w="9325802">
                <a:moveTo>
                  <a:pt x="9325802" y="0"/>
                </a:moveTo>
                <a:lnTo>
                  <a:pt x="0" y="0"/>
                </a:lnTo>
                <a:lnTo>
                  <a:pt x="0" y="6096742"/>
                </a:lnTo>
                <a:lnTo>
                  <a:pt x="9325802" y="6096742"/>
                </a:lnTo>
                <a:lnTo>
                  <a:pt x="9325802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54363">
            <a:off x="-966611" y="2621485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464545">
            <a:off x="-1414232" y="5874889"/>
            <a:ext cx="6842807" cy="5525567"/>
          </a:xfrm>
          <a:custGeom>
            <a:avLst/>
            <a:gdLst/>
            <a:ahLst/>
            <a:cxnLst/>
            <a:rect r="r" b="b" t="t" l="l"/>
            <a:pathLst>
              <a:path h="5525567" w="6842807">
                <a:moveTo>
                  <a:pt x="0" y="0"/>
                </a:moveTo>
                <a:lnTo>
                  <a:pt x="6842807" y="0"/>
                </a:lnTo>
                <a:lnTo>
                  <a:pt x="6842807" y="5525566"/>
                </a:lnTo>
                <a:lnTo>
                  <a:pt x="0" y="55255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997077">
            <a:off x="6900526" y="7541582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54363">
            <a:off x="12733825" y="7302191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64537">
            <a:off x="-199822" y="-547871"/>
            <a:ext cx="4357357" cy="3153142"/>
          </a:xfrm>
          <a:custGeom>
            <a:avLst/>
            <a:gdLst/>
            <a:ahLst/>
            <a:cxnLst/>
            <a:rect r="r" b="b" t="t" l="l"/>
            <a:pathLst>
              <a:path h="3153142" w="4357357">
                <a:moveTo>
                  <a:pt x="0" y="0"/>
                </a:moveTo>
                <a:lnTo>
                  <a:pt x="4357357" y="0"/>
                </a:lnTo>
                <a:lnTo>
                  <a:pt x="4357357" y="3153142"/>
                </a:lnTo>
                <a:lnTo>
                  <a:pt x="0" y="31531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901981" y="3355964"/>
            <a:ext cx="12448716" cy="3313972"/>
          </a:xfrm>
          <a:custGeom>
            <a:avLst/>
            <a:gdLst/>
            <a:ahLst/>
            <a:cxnLst/>
            <a:rect r="r" b="b" t="t" l="l"/>
            <a:pathLst>
              <a:path h="3313972" w="12448716">
                <a:moveTo>
                  <a:pt x="0" y="0"/>
                </a:moveTo>
                <a:lnTo>
                  <a:pt x="12448716" y="0"/>
                </a:lnTo>
                <a:lnTo>
                  <a:pt x="12448716" y="3313971"/>
                </a:lnTo>
                <a:lnTo>
                  <a:pt x="0" y="33139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142007" r="0" b="-13363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54363">
            <a:off x="15713623" y="332699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53016" y="-629366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8" y="0"/>
                </a:lnTo>
                <a:lnTo>
                  <a:pt x="4212568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997077">
            <a:off x="14561995" y="7794189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54363">
            <a:off x="8069212" y="8250240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1" y="0"/>
                </a:lnTo>
                <a:lnTo>
                  <a:pt x="3931751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660988">
            <a:off x="-1598217" y="4092105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5" y="0"/>
                </a:lnTo>
                <a:lnTo>
                  <a:pt x="3651945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930338">
            <a:off x="3944716" y="-2949958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2100909" y="-863503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69538" y="6846188"/>
            <a:ext cx="4393084" cy="3954934"/>
          </a:xfrm>
          <a:custGeom>
            <a:avLst/>
            <a:gdLst/>
            <a:ahLst/>
            <a:cxnLst/>
            <a:rect r="r" b="b" t="t" l="l"/>
            <a:pathLst>
              <a:path h="3954934" w="4393084">
                <a:moveTo>
                  <a:pt x="0" y="0"/>
                </a:moveTo>
                <a:lnTo>
                  <a:pt x="4393084" y="0"/>
                </a:lnTo>
                <a:lnTo>
                  <a:pt x="4393084" y="3954934"/>
                </a:lnTo>
                <a:lnTo>
                  <a:pt x="0" y="3954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11078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06318" y="1887845"/>
            <a:ext cx="1191645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PROBLEM STATEMENT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87858" y="3849944"/>
            <a:ext cx="10912285" cy="24463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rganizations receive resumes in different formats and for multiple job roles.</a:t>
            </a:r>
          </a:p>
          <a:p>
            <a:pPr algn="just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Manual classification of resumes into job categories is time-consuming and inconsistent.</a:t>
            </a:r>
          </a:p>
          <a:p>
            <a:pPr algn="just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There is a need for an automated system that can analyze resume content and predict suitable job roles.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1166034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85719" y="3635709"/>
            <a:ext cx="10912285" cy="3265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 build a machine learning system that:</a:t>
            </a:r>
          </a:p>
          <a:p>
            <a:pPr algn="l">
              <a:lnSpc>
                <a:spcPts val="3234"/>
              </a:lnSpc>
            </a:pP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Extracts text from resumes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Identifies job roles based on resume content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Creates a structured dataset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Trains machine learning models for classification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</a:t>
            </a: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edicts job role for new resumes</a:t>
            </a:r>
          </a:p>
          <a:p>
            <a:pPr algn="l">
              <a:lnSpc>
                <a:spcPts val="323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846129" y="2356734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4711" y="-515144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11597581" y="-2254615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3" y="0"/>
                </a:lnTo>
                <a:lnTo>
                  <a:pt x="38418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5513468" y="-1031938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6871623" y="8559182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499233" y="7691407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00966" y="2039040"/>
            <a:ext cx="1051751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DATASET CREATION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00966" y="3643423"/>
            <a:ext cx="12712462" cy="203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4"/>
              </a:lnSpc>
            </a:pP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dataset is provided as a ZIP file containing resume folders.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Each folder represents a specific job role.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Each folder contains multiple resumes in DOCX format.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automatically extracts the ZIP file and reads all resumes.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15786860" y="3057045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800167" y="-515144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800167" y="7188508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-225083" y="-1031938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1" y="0"/>
                </a:lnTo>
                <a:lnTo>
                  <a:pt x="3931751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-1163599" y="3618614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5" y="0"/>
                </a:lnTo>
                <a:lnTo>
                  <a:pt x="3651945" y="2642681"/>
                </a:lnTo>
                <a:lnTo>
                  <a:pt x="0" y="264268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153591" y="6958355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9082" y="1382051"/>
            <a:ext cx="10713353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DATA EXTRACTION &amp; ROLE MAPPING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90150" y="3192463"/>
            <a:ext cx="10912285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Data Extracti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 &amp; Role Mapping: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Text is extracted from DOCX resumes using the python-docx library.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Job roles are assigned using two methods: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Folder name mapping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Keyword-based role identification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ensures accurate labeling of resumes into predefined job roles.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846129" y="2356734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4711" y="-515144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4362848" y="7379933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689999" y="-210855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260942" y="457399"/>
            <a:ext cx="9429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DATASET PREPARATION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97292" y="3511240"/>
            <a:ext cx="11087800" cy="280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Af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ter extraction and role assignment: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Resume text, candidate name, and job role are stored in a structured format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DataFrame is created with relevant fields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 dataset is exported to an Excel file for reuse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This c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onverts unstructured resumes into a structured dataset.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561606" y="7025839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085280" y="2991530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099"/>
                </a:lnTo>
                <a:lnTo>
                  <a:pt x="0" y="3324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54363">
            <a:off x="-600288" y="7572815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1" y="0"/>
                </a:lnTo>
                <a:lnTo>
                  <a:pt x="3931751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7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89999" y="-210855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4997077">
            <a:off x="-372373" y="-975290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3" y="0"/>
                </a:lnTo>
                <a:lnTo>
                  <a:pt x="384183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12730" y="817236"/>
            <a:ext cx="13115993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EXPLORATORY DATA ANALYSIS (EDA)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12730" y="3509197"/>
            <a:ext cx="8886911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EDA is performed to understand the dataset distribution.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following analyses are done: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Count of resumes per job role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Detection of missing values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Detection of duplicate records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Visualization is used to display job role distribution.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970377" y="2254341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74454" y="-403197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4362848" y="7379933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555862" y="-863503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5788766" y="0"/>
                </a:moveTo>
                <a:lnTo>
                  <a:pt x="0" y="0"/>
                </a:lnTo>
                <a:lnTo>
                  <a:pt x="0" y="3784406"/>
                </a:lnTo>
                <a:lnTo>
                  <a:pt x="5788766" y="3784406"/>
                </a:lnTo>
                <a:lnTo>
                  <a:pt x="578876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1437" y="1373153"/>
            <a:ext cx="10665126" cy="72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567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FEATURE ENGINEERING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73461" y="3474820"/>
            <a:ext cx="12504939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ume text is converted into numerical format using TF-IDF Vectorizer.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TF-IDF identifies important terms based on frequency and importance.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This transforms textual resume data into feature vectors suitable for machine learning models.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970377" y="2254341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74454" y="-403197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4362848" y="7379933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555862" y="-863503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5788766" y="0"/>
                </a:moveTo>
                <a:lnTo>
                  <a:pt x="0" y="0"/>
                </a:lnTo>
                <a:lnTo>
                  <a:pt x="0" y="3784406"/>
                </a:lnTo>
                <a:lnTo>
                  <a:pt x="5788766" y="3784406"/>
                </a:lnTo>
                <a:lnTo>
                  <a:pt x="578876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1437" y="1373153"/>
            <a:ext cx="10665126" cy="72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567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 MODEL BUILDING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12730" y="3332984"/>
            <a:ext cx="12504939" cy="386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Multiple machine learning models are trained using the TF-IDF features: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Logistic Regression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Naive Bayes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Support Vector Machine (SVM)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Random Forest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ecision Tree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K-Nearest Neighbors (KNN)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Each model is trained and evaluated separately.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970377" y="2254341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74454" y="-403197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4362848" y="7379933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555862" y="-863503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5788766" y="0"/>
                </a:moveTo>
                <a:lnTo>
                  <a:pt x="0" y="0"/>
                </a:lnTo>
                <a:lnTo>
                  <a:pt x="0" y="3784406"/>
                </a:lnTo>
                <a:lnTo>
                  <a:pt x="5788766" y="3784406"/>
                </a:lnTo>
                <a:lnTo>
                  <a:pt x="578876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11437" y="1373153"/>
            <a:ext cx="10665126" cy="72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567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MODEL COMPARISON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12730" y="3509197"/>
            <a:ext cx="12504939" cy="351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ll trained models are compared using performance metrics such as: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Accuracy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Precision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Recall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F1-score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comparison table is generated to identify the best performing model for resume classification.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970377" y="2254341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774454" y="-403197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4362848" y="7379933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-555862" y="-863503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5788766" y="0"/>
                </a:moveTo>
                <a:lnTo>
                  <a:pt x="0" y="0"/>
                </a:lnTo>
                <a:lnTo>
                  <a:pt x="0" y="3784406"/>
                </a:lnTo>
                <a:lnTo>
                  <a:pt x="5788766" y="3784406"/>
                </a:lnTo>
                <a:lnTo>
                  <a:pt x="578876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22156" y="951053"/>
            <a:ext cx="10665126" cy="72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567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 DEPLOYMENT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154363">
            <a:off x="-1970377" y="2254341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0" y="0"/>
                </a:moveTo>
                <a:lnTo>
                  <a:pt x="4917160" y="0"/>
                </a:lnTo>
                <a:lnTo>
                  <a:pt x="4917160" y="3970606"/>
                </a:lnTo>
                <a:lnTo>
                  <a:pt x="0" y="3970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74454" y="-403197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54363">
            <a:off x="14362848" y="7379933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930338">
            <a:off x="11308896" y="-3152670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555862" y="-863503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5788766" y="0"/>
                </a:moveTo>
                <a:lnTo>
                  <a:pt x="0" y="0"/>
                </a:lnTo>
                <a:lnTo>
                  <a:pt x="0" y="3784406"/>
                </a:lnTo>
                <a:lnTo>
                  <a:pt x="5788766" y="3784406"/>
                </a:lnTo>
                <a:lnTo>
                  <a:pt x="5788766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622156" y="2510317"/>
            <a:ext cx="13924378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A pr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ediction pipeline is created to classify new resumes.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 The trained model is saved for reuse.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 The model is deployed using a Streamlit application, allowing users to: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Upload a resume file or paste resume text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et p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redicted job role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View confidence score</a:t>
            </a:r>
          </a:p>
          <a:p>
            <a:pPr algn="just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View ex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plana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tion ke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yw</a:t>
            </a: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ords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A live demo link is available for real-time testing: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</a:rPr>
              <a:t>Live Demo Link -</a:t>
            </a:r>
            <a:r>
              <a:rPr lang="en-US" sz="2000" u="sng">
                <a:solidFill>
                  <a:srgbClr val="512E1A"/>
                </a:solidFill>
                <a:latin typeface="Garet"/>
                <a:ea typeface="Garet"/>
                <a:cs typeface="Garet"/>
                <a:sym typeface="Garet"/>
                <a:hlinkClick r:id="rId12" tooltip="https://resumeclassification-hwu8zkd9yn5cy5pmusqht3.streamlit.app"/>
              </a:rPr>
              <a:t> https://resumeclassification-hwu8zkd9yn5cy5pmusqht3.streamlit.app/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65153" y="1484981"/>
            <a:ext cx="6545941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CONCLUSION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16191" y="3899611"/>
            <a:ext cx="10912285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</a:t>
            </a: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automated resume classification system was successfully developed.</a:t>
            </a: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system converts unstructured resumes into structured data.</a:t>
            </a: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Machine learning models accurately classify resumes into job roles.</a:t>
            </a:r>
          </a:p>
          <a:p>
            <a:pPr algn="l">
              <a:lnSpc>
                <a:spcPts val="2800"/>
              </a:lnSpc>
            </a:pPr>
            <a:r>
              <a:rPr lang="en-US" sz="2000" spc="22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The deployed application enables real-time resume classification.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846129" y="2356734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4917160" y="0"/>
                </a:moveTo>
                <a:lnTo>
                  <a:pt x="0" y="0"/>
                </a:lnTo>
                <a:lnTo>
                  <a:pt x="0" y="3970606"/>
                </a:lnTo>
                <a:lnTo>
                  <a:pt x="4917160" y="3970606"/>
                </a:lnTo>
                <a:lnTo>
                  <a:pt x="491716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4711" y="-515144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5073382" y="-658125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9619074" y="-3352823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3" y="0"/>
                </a:lnTo>
                <a:lnTo>
                  <a:pt x="4544753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22905">
            <a:off x="13434340" y="7366097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22282" y="1682842"/>
            <a:ext cx="9966108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512E1A"/>
                </a:solidFill>
                <a:latin typeface="More Sugar"/>
                <a:ea typeface="More Sugar"/>
                <a:cs typeface="More Sugar"/>
                <a:sym typeface="More Sugar"/>
              </a:rPr>
              <a:t>FUTURE SCOPE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726616" y="4101282"/>
            <a:ext cx="10912285" cy="2036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Use</a:t>
            </a: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deep learning models like LSTM or BERT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Add resume ranking system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Deploy using web application or cloud services</a:t>
            </a:r>
          </a:p>
          <a:p>
            <a:pPr algn="l" marL="498855" indent="-249428" lvl="1">
              <a:lnSpc>
                <a:spcPts val="3234"/>
              </a:lnSpc>
              <a:buFont typeface="Arial"/>
              <a:buChar char="•"/>
            </a:pPr>
            <a:r>
              <a:rPr lang="en-US" sz="2310" spc="25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Integrate with Applicant Tracking Systems (ATS)</a:t>
            </a:r>
          </a:p>
          <a:p>
            <a:pPr algn="l">
              <a:lnSpc>
                <a:spcPts val="3234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1154363">
            <a:off x="-1846129" y="2356734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0" y="7272997"/>
            <a:ext cx="4917160" cy="3970606"/>
          </a:xfrm>
          <a:custGeom>
            <a:avLst/>
            <a:gdLst/>
            <a:ahLst/>
            <a:cxnLst/>
            <a:rect r="r" b="b" t="t" l="l"/>
            <a:pathLst>
              <a:path h="3970606" w="4917160">
                <a:moveTo>
                  <a:pt x="4917160" y="0"/>
                </a:moveTo>
                <a:lnTo>
                  <a:pt x="0" y="0"/>
                </a:lnTo>
                <a:lnTo>
                  <a:pt x="0" y="3970606"/>
                </a:lnTo>
                <a:lnTo>
                  <a:pt x="4917160" y="3970606"/>
                </a:lnTo>
                <a:lnTo>
                  <a:pt x="491716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524711" y="-515144"/>
            <a:ext cx="4212569" cy="3324100"/>
          </a:xfrm>
          <a:custGeom>
            <a:avLst/>
            <a:gdLst/>
            <a:ahLst/>
            <a:cxnLst/>
            <a:rect r="r" b="b" t="t" l="l"/>
            <a:pathLst>
              <a:path h="3324100" w="4212569">
                <a:moveTo>
                  <a:pt x="0" y="0"/>
                </a:moveTo>
                <a:lnTo>
                  <a:pt x="4212569" y="0"/>
                </a:lnTo>
                <a:lnTo>
                  <a:pt x="4212569" y="3324100"/>
                </a:lnTo>
                <a:lnTo>
                  <a:pt x="0" y="33241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154363">
            <a:off x="15073382" y="-658125"/>
            <a:ext cx="3931750" cy="3610062"/>
          </a:xfrm>
          <a:custGeom>
            <a:avLst/>
            <a:gdLst/>
            <a:ahLst/>
            <a:cxnLst/>
            <a:rect r="r" b="b" t="t" l="l"/>
            <a:pathLst>
              <a:path h="3610062" w="3931750">
                <a:moveTo>
                  <a:pt x="0" y="0"/>
                </a:moveTo>
                <a:lnTo>
                  <a:pt x="3931750" y="0"/>
                </a:lnTo>
                <a:lnTo>
                  <a:pt x="3931750" y="3610062"/>
                </a:lnTo>
                <a:lnTo>
                  <a:pt x="0" y="3610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660988">
            <a:off x="15433327" y="3822160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31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930338">
            <a:off x="9619074" y="-3352823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3" y="0"/>
                </a:lnTo>
                <a:lnTo>
                  <a:pt x="4544753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622905">
            <a:off x="13434340" y="7366097"/>
            <a:ext cx="5788767" cy="3784406"/>
          </a:xfrm>
          <a:custGeom>
            <a:avLst/>
            <a:gdLst/>
            <a:ahLst/>
            <a:cxnLst/>
            <a:rect r="r" b="b" t="t" l="l"/>
            <a:pathLst>
              <a:path h="3784406" w="5788767">
                <a:moveTo>
                  <a:pt x="0" y="0"/>
                </a:moveTo>
                <a:lnTo>
                  <a:pt x="5788767" y="0"/>
                </a:lnTo>
                <a:lnTo>
                  <a:pt x="5788767" y="3784406"/>
                </a:lnTo>
                <a:lnTo>
                  <a:pt x="0" y="37844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EAB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335713">
            <a:off x="12613017" y="415292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3" y="0"/>
                </a:lnTo>
                <a:lnTo>
                  <a:pt x="4544753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747098" y="-1059142"/>
            <a:ext cx="9325802" cy="6096743"/>
          </a:xfrm>
          <a:custGeom>
            <a:avLst/>
            <a:gdLst/>
            <a:ahLst/>
            <a:cxnLst/>
            <a:rect r="r" b="b" t="t" l="l"/>
            <a:pathLst>
              <a:path h="6096743" w="9325802">
                <a:moveTo>
                  <a:pt x="0" y="0"/>
                </a:moveTo>
                <a:lnTo>
                  <a:pt x="9325801" y="0"/>
                </a:lnTo>
                <a:lnTo>
                  <a:pt x="9325801" y="6096743"/>
                </a:lnTo>
                <a:lnTo>
                  <a:pt x="0" y="6096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54363">
            <a:off x="-966611" y="2621485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4" y="0"/>
                </a:lnTo>
                <a:lnTo>
                  <a:pt x="4544754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229302" y="5552713"/>
            <a:ext cx="6842807" cy="5525567"/>
          </a:xfrm>
          <a:custGeom>
            <a:avLst/>
            <a:gdLst/>
            <a:ahLst/>
            <a:cxnLst/>
            <a:rect r="r" b="b" t="t" l="l"/>
            <a:pathLst>
              <a:path h="5525567" w="6842807">
                <a:moveTo>
                  <a:pt x="0" y="0"/>
                </a:moveTo>
                <a:lnTo>
                  <a:pt x="6842807" y="0"/>
                </a:lnTo>
                <a:lnTo>
                  <a:pt x="6842807" y="5525567"/>
                </a:lnTo>
                <a:lnTo>
                  <a:pt x="0" y="5525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25267" y="3061837"/>
            <a:ext cx="10637465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>
                <a:solidFill>
                  <a:srgbClr val="3D4043"/>
                </a:solidFill>
                <a:latin typeface="More Sugar"/>
                <a:ea typeface="More Sugar"/>
                <a:cs typeface="More Sugar"/>
                <a:sym typeface="More Sugar"/>
              </a:rPr>
              <a:t>Thank You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085616" y="-1334870"/>
            <a:ext cx="6220350" cy="4908422"/>
          </a:xfrm>
          <a:custGeom>
            <a:avLst/>
            <a:gdLst/>
            <a:ahLst/>
            <a:cxnLst/>
            <a:rect r="r" b="b" t="t" l="l"/>
            <a:pathLst>
              <a:path h="4908422" w="6220350">
                <a:moveTo>
                  <a:pt x="0" y="0"/>
                </a:moveTo>
                <a:lnTo>
                  <a:pt x="6220350" y="0"/>
                </a:lnTo>
                <a:lnTo>
                  <a:pt x="6220350" y="4908421"/>
                </a:lnTo>
                <a:lnTo>
                  <a:pt x="0" y="4908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132073" y="3573551"/>
            <a:ext cx="2254453" cy="2525998"/>
          </a:xfrm>
          <a:custGeom>
            <a:avLst/>
            <a:gdLst/>
            <a:ahLst/>
            <a:cxnLst/>
            <a:rect r="r" b="b" t="t" l="l"/>
            <a:pathLst>
              <a:path h="2525998" w="2254453">
                <a:moveTo>
                  <a:pt x="0" y="0"/>
                </a:moveTo>
                <a:lnTo>
                  <a:pt x="2254454" y="0"/>
                </a:lnTo>
                <a:lnTo>
                  <a:pt x="2254454" y="2525998"/>
                </a:lnTo>
                <a:lnTo>
                  <a:pt x="0" y="25259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4997077">
            <a:off x="6564088" y="8406421"/>
            <a:ext cx="3841834" cy="4114800"/>
          </a:xfrm>
          <a:custGeom>
            <a:avLst/>
            <a:gdLst/>
            <a:ahLst/>
            <a:cxnLst/>
            <a:rect r="r" b="b" t="t" l="l"/>
            <a:pathLst>
              <a:path h="4114800" w="3841834">
                <a:moveTo>
                  <a:pt x="0" y="0"/>
                </a:moveTo>
                <a:lnTo>
                  <a:pt x="3841834" y="0"/>
                </a:lnTo>
                <a:lnTo>
                  <a:pt x="384183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154363">
            <a:off x="13859697" y="6731805"/>
            <a:ext cx="4544754" cy="4172910"/>
          </a:xfrm>
          <a:custGeom>
            <a:avLst/>
            <a:gdLst/>
            <a:ahLst/>
            <a:cxnLst/>
            <a:rect r="r" b="b" t="t" l="l"/>
            <a:pathLst>
              <a:path h="4172910" w="4544754">
                <a:moveTo>
                  <a:pt x="0" y="0"/>
                </a:moveTo>
                <a:lnTo>
                  <a:pt x="4544753" y="0"/>
                </a:lnTo>
                <a:lnTo>
                  <a:pt x="4544753" y="4172910"/>
                </a:lnTo>
                <a:lnTo>
                  <a:pt x="0" y="41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660988">
            <a:off x="7100458" y="-778512"/>
            <a:ext cx="3651945" cy="2642680"/>
          </a:xfrm>
          <a:custGeom>
            <a:avLst/>
            <a:gdLst/>
            <a:ahLst/>
            <a:cxnLst/>
            <a:rect r="r" b="b" t="t" l="l"/>
            <a:pathLst>
              <a:path h="2642680" w="3651945">
                <a:moveTo>
                  <a:pt x="0" y="0"/>
                </a:moveTo>
                <a:lnTo>
                  <a:pt x="3651946" y="0"/>
                </a:lnTo>
                <a:lnTo>
                  <a:pt x="3651946" y="2642680"/>
                </a:lnTo>
                <a:lnTo>
                  <a:pt x="0" y="264268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DAG_6GnzBAI</dc:identifier>
  <dcterms:modified xsi:type="dcterms:W3CDTF">2011-08-01T06:04:30Z</dcterms:modified>
  <cp:revision>1</cp:revision>
  <dc:title>Beige Playful Engineering Submarine Machine Group Project Presentation</dc:title>
</cp:coreProperties>
</file>